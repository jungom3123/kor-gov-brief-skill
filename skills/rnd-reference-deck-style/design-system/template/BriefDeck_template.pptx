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1분기</c:v>
                  </c:pt>
                  <c:pt idx="1">
                    <c:v>2분기</c:v>
                  </c:pt>
                  <c:pt idx="2">
                    <c:v>3분기</c:v>
                  </c:pt>
                  <c:pt idx="3">
                    <c:v>4분기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70</c:v>
                </c:pt>
                <c:pt idx="2">
                  <c:v>75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A70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1분기</c:v>
                  </c:pt>
                  <c:pt idx="1">
                    <c:v>2분기</c:v>
                  </c:pt>
                  <c:pt idx="2">
                    <c:v>3분기</c:v>
                  </c:pt>
                  <c:pt idx="3">
                    <c:v>4분기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</c:v>
                </c:pt>
                <c:pt idx="1">
                  <c:v>91</c:v>
                </c:pt>
                <c:pt idx="2">
                  <c:v>104</c:v>
                </c:pt>
                <c:pt idx="3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1"/>
        <c:axPos val="l"/>
        <c:majorGridlines>
          <c:spPr>
            <a:ln w="12700" cap="flat">
              <a:solidFill>
                <a:srgbClr val="D6E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01 표지. 제목 80~110px(40~55pt). 오른쪽 세로 띠는 장식 한 종류 규칙에 따라 덱 전체에서 이것만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04+05. 핵심 문장의 핵심어 2~4개만 블루. 카드 간격 32px(16pt).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06 차트. 전(회색)→후(블루) 쌍 막대, 값 라벨 전부, 세로축 숨김, 가로 격자만.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03 간지. 글자는 번호·제목·소항목 세 덩이만.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07. 전은 회색, 후는 주색. 하단 결론 띠(높이 200px) 안 핵심어는 하늘색.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08. 헤더 알약을 카드 위에 반쯤 걸침. 분류색은 같은 채도 4색, 같은 항목은 덱 전체에서 같은 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10. 쉐브론은 네이비·블루 교차, 흰 40px 글자. 단계 수와 설명 박스 수를 같게.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11. 지난 일정은 회색 알약. 대괄호 결론은 결론 띠 대신 쓰는 변형.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13. 한 장에 표 1개, 세로 괘선 없음, 합계 행 연살구 + 빨강 숫자.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레이아웃 16. 노랑은 어두운 배경에서만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 표지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1905000"/>
            <a:ext cx="8255000" cy="38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부제·행사명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2413000"/>
            <a:ext cx="9525000" cy="165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표지 제목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5207000"/>
            <a:ext cx="6350000" cy="63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날짜 · 발표자</a:t>
            </a:r>
            <a:endParaRPr lang="en-US" sz="1400" dirty="0"/>
          </a:p>
        </p:txBody>
      </p:sp>
      <p:sp>
        <p:nvSpPr>
          <p:cNvPr id="5" name="Shape 0"/>
          <p:cNvSpPr/>
          <p:nvPr/>
        </p:nvSpPr>
        <p:spPr>
          <a:xfrm>
            <a:off x="9906000" y="0"/>
            <a:ext cx="1079500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Shape 1"/>
          <p:cNvSpPr/>
          <p:nvPr/>
        </p:nvSpPr>
        <p:spPr>
          <a:xfrm>
            <a:off x="11176000" y="0"/>
            <a:ext cx="304800" cy="6858000"/>
          </a:xfrm>
          <a:prstGeom prst="rect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 간지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1905000"/>
            <a:ext cx="3175000" cy="139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0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3429000"/>
            <a:ext cx="8890000" cy="825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장 제목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4445000"/>
            <a:ext cx="8890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소항목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 본문 · 제목 바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5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08000" y="139700"/>
            <a:ext cx="88900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장 표시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8000" y="330200"/>
            <a:ext cx="11176000" cy="4191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</a:rPr>
              <a:t>페이지 제목</a:t>
            </a:r>
            <a:endParaRPr lang="en-US" sz="29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577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출처·단위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 본문 · 바 없음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577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장 표시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9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페이지 제목</a:t>
            </a:r>
            <a:endParaRPr lang="en-US" sz="2900" dirty="0"/>
          </a:p>
        </p:txBody>
      </p:sp>
      <p:sp>
        <p:nvSpPr>
          <p:cNvPr id="4" name="Shape 0"/>
          <p:cNvSpPr/>
          <p:nvPr/>
        </p:nvSpPr>
        <p:spPr>
          <a:xfrm>
            <a:off x="508000" y="1143000"/>
            <a:ext cx="11176000" cy="0"/>
          </a:xfrm>
          <a:prstGeom prst="line">
            <a:avLst/>
          </a:prstGeom>
          <a:noFill/>
          <a:ln w="19050">
            <a:solidFill>
              <a:srgbClr val="D6E0EE"/>
            </a:solidFill>
            <a:prstDash val="solid"/>
          </a:ln>
        </p:spPr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577"/>
                </a:solidFill>
              </a:defRPr>
            </a:lvl1pPr>
          </a:lstStyle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출처·단위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D 마무리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2095500"/>
            <a:ext cx="11176000" cy="127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5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6500" b="1" dirty="0">
                <a:solidFill>
                  <a:schemeClr val="bg1"/>
                </a:solidFill>
              </a:rPr>
              <a:t>감사합니다</a:t>
            </a:r>
            <a:endParaRPr lang="en-US" sz="65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16000" y="3683000"/>
            <a:ext cx="10160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마무리 메시지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556000" y="5461000"/>
            <a:ext cx="5080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dirty="0">
                <a:solidFill>
                  <a:schemeClr val="accent3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연락처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1905000"/>
            <a:ext cx="8255000" cy="381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2027 고객 경험 혁신 제안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2413000"/>
            <a:ext cx="952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온보딩 3주,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재계약률 95%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5207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2026. 11. 3 · 고객성공팀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01 현황 진단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온보딩이 이탈의 첫 번째 원인입니다</a:t>
            </a:r>
            <a:endParaRPr lang="en-US" sz="2900" dirty="0"/>
          </a:p>
        </p:txBody>
      </p:sp>
      <p:sp>
        <p:nvSpPr>
          <p:cNvPr id="4" name="key-label"/>
          <p:cNvSpPr txBox="1"/>
          <p:nvPr/>
        </p:nvSpPr>
        <p:spPr>
          <a:xfrm>
            <a:off x="508000" y="1524000"/>
            <a:ext cx="952500" cy="4445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700" dirty="0"/>
          </a:p>
        </p:txBody>
      </p:sp>
      <p:sp>
        <p:nvSpPr>
          <p:cNvPr id="5" name="key-message"/>
          <p:cNvSpPr txBox="1"/>
          <p:nvPr/>
        </p:nvSpPr>
        <p:spPr>
          <a:xfrm>
            <a:off x="1651000" y="1460500"/>
            <a:ext cx="1003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90일 안에 떠난 고객의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68%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단계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멈췄습니다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08000" y="2476500"/>
            <a:ext cx="3587750" cy="3048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8000" y="2476500"/>
            <a:ext cx="3587750" cy="508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온보딩 기간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8000" y="3302000"/>
            <a:ext cx="35877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6.2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</a:t>
            </a:r>
            <a:endParaRPr lang="en-US" sz="6500" dirty="0"/>
          </a:p>
        </p:txBody>
      </p:sp>
      <p:sp>
        <p:nvSpPr>
          <p:cNvPr id="9" name="Text 7"/>
          <p:cNvSpPr txBox="1"/>
          <p:nvPr/>
        </p:nvSpPr>
        <p:spPr>
          <a:xfrm>
            <a:off x="508000" y="4699000"/>
            <a:ext cx="358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평균 3.5주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4298950" y="2476500"/>
            <a:ext cx="3587750" cy="3048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8950" y="2476500"/>
            <a:ext cx="3587750" cy="508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이탈률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98950" y="3302000"/>
            <a:ext cx="35877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6500" dirty="0"/>
          </a:p>
        </p:txBody>
      </p:sp>
      <p:sp>
        <p:nvSpPr>
          <p:cNvPr id="13" name="Text 11"/>
          <p:cNvSpPr txBox="1"/>
          <p:nvPr/>
        </p:nvSpPr>
        <p:spPr>
          <a:xfrm>
            <a:off x="4298950" y="4699000"/>
            <a:ext cx="358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4.1%p 전년 대비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8089900" y="2476500"/>
            <a:ext cx="3587750" cy="30480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89900" y="2476500"/>
            <a:ext cx="3587750" cy="508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문의 비중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89900" y="3302000"/>
            <a:ext cx="358775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</a:t>
            </a:r>
            <a:endParaRPr lang="en-US" sz="6500" dirty="0"/>
          </a:p>
        </p:txBody>
      </p:sp>
      <p:sp>
        <p:nvSpPr>
          <p:cNvPr id="17" name="Text 15"/>
          <p:cNvSpPr txBox="1"/>
          <p:nvPr/>
        </p:nvSpPr>
        <p:spPr>
          <a:xfrm>
            <a:off x="8089900" y="4699000"/>
            <a:ext cx="358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지원 티켓 중</a:t>
            </a:r>
            <a:endParaRPr lang="en-US" sz="1300" dirty="0"/>
          </a:p>
        </p:txBody>
      </p:sp>
      <p:sp>
        <p:nvSpPr>
          <p:cNvPr id="18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출처: 내부 CRM·지원 티켓(2026년 1~9월), 예시 수치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01 현황 진단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매출은 분기마다 늘었습니다</a:t>
            </a:r>
            <a:endParaRPr lang="en-US" sz="2900" dirty="0"/>
          </a:p>
        </p:txBody>
      </p:sp>
      <p:sp>
        <p:nvSpPr>
          <p:cNvPr id="4" name="pill"/>
          <p:cNvSpPr txBox="1"/>
          <p:nvPr/>
        </p:nvSpPr>
        <p:spPr>
          <a:xfrm>
            <a:off x="508000" y="1397000"/>
            <a:ext cx="1905000" cy="4064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분기별 매출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779000" y="14605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억 원</a:t>
            </a:r>
            <a:endParaRPr lang="en-US" sz="1000" dirty="0"/>
          </a:p>
        </p:txBody>
      </p:sp>
      <p:graphicFrame>
        <p:nvGraphicFramePr>
          <p:cNvPr id="6" name="bar-chart" descr=""/>
          <p:cNvGraphicFramePr/>
          <p:nvPr/>
        </p:nvGraphicFramePr>
        <p:xfrm>
          <a:off x="508000" y="1905000"/>
          <a:ext cx="762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ard"/>
          <p:cNvSpPr/>
          <p:nvPr/>
        </p:nvSpPr>
        <p:spPr>
          <a:xfrm>
            <a:off x="8509000" y="1905000"/>
            <a:ext cx="3175000" cy="355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63000" y="2159000"/>
            <a:ext cx="889000" cy="3556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763000" y="2730500"/>
            <a:ext cx="279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pPr indent="0" marL="0">
              <a:buNone/>
            </a:pPr>
            <a:r>
              <a:rPr lang="en-US" sz="2200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pPr indent="0" marL="0">
              <a:buNone/>
            </a:pPr>
            <a:r>
              <a:rPr lang="en-US" sz="55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763000" y="37465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48%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763000" y="43180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4분기 매출, 전년 같은 분기 대비</a:t>
            </a:r>
            <a:endParaRPr lang="en-US" sz="140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예시 수치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62000" y="19050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3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62000" y="3429000"/>
            <a:ext cx="8890000" cy="8255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개선 방향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44450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현행과 개선안 · 세 가지 과제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08000" y="1397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02 개선 방향</a:t>
            </a:r>
            <a:endParaRPr lang="en-US" sz="10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08000" y="330200"/>
            <a:ext cx="11176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bg1"/>
                </a:solidFill>
              </a:rPr>
              <a:t>설정을 47개에서 9개로 줄입니다</a:t>
            </a:r>
            <a:endParaRPr lang="en-US" sz="2900" dirty="0"/>
          </a:p>
        </p:txBody>
      </p:sp>
      <p:sp>
        <p:nvSpPr>
          <p:cNvPr id="4" name="card"/>
          <p:cNvSpPr/>
          <p:nvPr/>
        </p:nvSpPr>
        <p:spPr>
          <a:xfrm>
            <a:off x="508000" y="1460500"/>
            <a:ext cx="5016500" cy="3302000"/>
          </a:xfrm>
          <a:prstGeom prst="roundRect">
            <a:avLst>
              <a:gd name="adj" fmla="val 3077"/>
            </a:avLst>
          </a:prstGeom>
          <a:solidFill>
            <a:srgbClr val="F1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8000" y="1460500"/>
            <a:ext cx="5016500" cy="5715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349500"/>
            <a:ext cx="444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항목 47개를 직접 입력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PDF로 자가 학습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문의는 메일로, 평균 응답 2일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6667500" y="1460500"/>
            <a:ext cx="5016500" cy="330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67500" y="1460500"/>
            <a:ext cx="5016500" cy="5715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972300" y="2349500"/>
            <a:ext cx="444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기본값으로 9개만 확인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안내와 3분 영상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응답 10분 이내</a:t>
            </a:r>
            <a:endParaRPr lang="en-US" sz="1800" dirty="0"/>
          </a:p>
        </p:txBody>
      </p:sp>
      <p:sp>
        <p:nvSpPr>
          <p:cNvPr id="10" name="arrow"/>
          <p:cNvSpPr/>
          <p:nvPr/>
        </p:nvSpPr>
        <p:spPr>
          <a:xfrm>
            <a:off x="5715000" y="2730500"/>
            <a:ext cx="762000" cy="7620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conclusion-band"/>
          <p:cNvSpPr txBox="1"/>
          <p:nvPr/>
        </p:nvSpPr>
        <p:spPr>
          <a:xfrm>
            <a:off x="0" y="5588000"/>
            <a:ext cx="12192000" cy="12700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설정 시간 </a:t>
            </a:r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3시간 → 25분</a:t>
            </a:r>
            <a:endParaRPr lang="en-US" sz="2400" dirty="0"/>
          </a:p>
        </p:txBody>
      </p:sp>
      <p:sp>
        <p:nvSpPr>
          <p:cNvPr id="13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02 개선 방향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세 가지 과제</a:t>
            </a:r>
            <a:endParaRPr lang="en-US" sz="2900" dirty="0"/>
          </a:p>
        </p:txBody>
      </p:sp>
      <p:sp>
        <p:nvSpPr>
          <p:cNvPr id="4" name="key-label"/>
          <p:cNvSpPr txBox="1"/>
          <p:nvPr/>
        </p:nvSpPr>
        <p:spPr>
          <a:xfrm>
            <a:off x="508000" y="1460500"/>
            <a:ext cx="952500" cy="4445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700" dirty="0"/>
          </a:p>
        </p:txBody>
      </p:sp>
      <p:sp>
        <p:nvSpPr>
          <p:cNvPr id="5" name="key-message"/>
          <p:cNvSpPr txBox="1"/>
          <p:nvPr/>
        </p:nvSpPr>
        <p:spPr>
          <a:xfrm>
            <a:off x="1651000" y="1397000"/>
            <a:ext cx="1003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과제로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2027년 재계약률 95%</a:t>
            </a:r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만듭니다</a:t>
            </a:r>
            <a:endParaRPr lang="en-US" sz="2400" dirty="0"/>
          </a:p>
        </p:txBody>
      </p:sp>
      <p:sp>
        <p:nvSpPr>
          <p:cNvPr id="6" name="card"/>
          <p:cNvSpPr/>
          <p:nvPr/>
        </p:nvSpPr>
        <p:spPr>
          <a:xfrm>
            <a:off x="508000" y="2730500"/>
            <a:ext cx="3587750" cy="2794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pill"/>
          <p:cNvSpPr txBox="1"/>
          <p:nvPr/>
        </p:nvSpPr>
        <p:spPr>
          <a:xfrm>
            <a:off x="1346200" y="25273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5B7B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시작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3238500"/>
            <a:ext cx="3079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마법사 도입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업종별 기본값 12종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주 전담 매니저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2000" y="5016500"/>
            <a:ext cx="307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1분기 출시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298950" y="2730500"/>
            <a:ext cx="3587750" cy="2794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pill"/>
          <p:cNvSpPr txBox="1"/>
          <p:nvPr/>
        </p:nvSpPr>
        <p:spPr>
          <a:xfrm>
            <a:off x="5137150" y="25273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1E8A8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정착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2950" y="3238500"/>
            <a:ext cx="3079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활용 리포트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교육 2회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사용률 알림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2950" y="5016500"/>
            <a:ext cx="307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2분기 시범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089900" y="2730500"/>
            <a:ext cx="3587750" cy="2794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5" name="pill"/>
          <p:cNvSpPr txBox="1"/>
          <p:nvPr/>
        </p:nvSpPr>
        <p:spPr>
          <a:xfrm>
            <a:off x="8928100" y="2527300"/>
            <a:ext cx="1905000" cy="406400"/>
          </a:xfrm>
          <a:prstGeom prst="roundRect">
            <a:avLst>
              <a:gd name="adj" fmla="val 50000"/>
            </a:avLst>
          </a:prstGeom>
          <a:solidFill>
            <a:srgbClr val="2A70B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강화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43900" y="3238500"/>
            <a:ext cx="30797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성과 리뷰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공유회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재계약 90일 전 점검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3900" y="5016500"/>
            <a:ext cx="30797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연중 운영</a:t>
            </a:r>
            <a:endParaRPr lang="en-US" sz="1200" dirty="0"/>
          </a:p>
        </p:txBody>
      </p:sp>
      <p:sp>
        <p:nvSpPr>
          <p:cNvPr id="19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03 실행 계획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네 단계로 진행합니다</a:t>
            </a:r>
            <a:endParaRPr lang="en-US" sz="2900" dirty="0"/>
          </a:p>
        </p:txBody>
      </p:sp>
      <p:sp>
        <p:nvSpPr>
          <p:cNvPr id="4" name="step"/>
          <p:cNvSpPr/>
          <p:nvPr/>
        </p:nvSpPr>
        <p:spPr>
          <a:xfrm>
            <a:off x="508000" y="1905000"/>
            <a:ext cx="2921000" cy="1143000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5000" y="190500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8000" y="3429000"/>
            <a:ext cx="2603500" cy="13970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rgbClr val="D6E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1200" y="36195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고객 인터뷰 20건</a:t>
            </a:r>
            <a:endParaRPr lang="en-US" sz="2000" dirty="0"/>
          </a:p>
        </p:txBody>
      </p:sp>
      <p:sp>
        <p:nvSpPr>
          <p:cNvPr id="8" name="step"/>
          <p:cNvSpPr/>
          <p:nvPr/>
        </p:nvSpPr>
        <p:spPr>
          <a:xfrm>
            <a:off x="3302000" y="1905000"/>
            <a:ext cx="2921000" cy="11430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6500" y="190500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02000" y="3429000"/>
            <a:ext cx="2603500" cy="13970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rgbClr val="D6E0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05200" y="36195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마법사 화면·기본값 설계</a:t>
            </a:r>
            <a:endParaRPr lang="en-US" sz="2000" dirty="0"/>
          </a:p>
        </p:txBody>
      </p:sp>
      <p:sp>
        <p:nvSpPr>
          <p:cNvPr id="12" name="step"/>
          <p:cNvSpPr/>
          <p:nvPr/>
        </p:nvSpPr>
        <p:spPr>
          <a:xfrm>
            <a:off x="6096000" y="1905000"/>
            <a:ext cx="2921000" cy="1143000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40500" y="190500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적용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96000" y="3429000"/>
            <a:ext cx="2603500" cy="13970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rgbClr val="D6E0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99200" y="36195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8주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20개 고객사 적용</a:t>
            </a:r>
            <a:endParaRPr lang="en-US" sz="2000" dirty="0"/>
          </a:p>
        </p:txBody>
      </p:sp>
      <p:sp>
        <p:nvSpPr>
          <p:cNvPr id="16" name="step"/>
          <p:cNvSpPr/>
          <p:nvPr/>
        </p:nvSpPr>
        <p:spPr>
          <a:xfrm>
            <a:off x="8890000" y="1905000"/>
            <a:ext cx="2921000" cy="11430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34500" y="190500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확산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890000" y="3429000"/>
            <a:ext cx="2603500" cy="139700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9050">
            <a:solidFill>
              <a:srgbClr val="D6E0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3200" y="3619500"/>
            <a:ext cx="2222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고객 기본 제공</a:t>
            </a:r>
            <a:endParaRPr lang="en-US" sz="2000" dirty="0"/>
          </a:p>
        </p:txBody>
      </p:sp>
      <p:sp>
        <p:nvSpPr>
          <p:cNvPr id="21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03 실행 계획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2027년 4분기에 성과를 보고합니다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8000" y="2635250"/>
            <a:ext cx="11176000" cy="0"/>
          </a:xfrm>
          <a:prstGeom prst="line">
            <a:avLst/>
          </a:prstGeom>
          <a:noFill/>
          <a:ln w="38100">
            <a:solidFill>
              <a:srgbClr val="D6E0EE"/>
            </a:solidFill>
            <a:prstDash val="solid"/>
          </a:ln>
        </p:spPr>
      </p:sp>
      <p:sp>
        <p:nvSpPr>
          <p:cNvPr id="5" name="pill"/>
          <p:cNvSpPr txBox="1"/>
          <p:nvPr/>
        </p:nvSpPr>
        <p:spPr>
          <a:xfrm>
            <a:off x="508000" y="2413000"/>
            <a:ext cx="1524000" cy="4445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8000" y="3111500"/>
            <a:ext cx="264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보고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08000" y="3556000"/>
            <a:ext cx="2641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범위·지표 확정</a:t>
            </a:r>
            <a:endParaRPr lang="en-US" sz="1300" dirty="0"/>
          </a:p>
        </p:txBody>
      </p:sp>
      <p:sp>
        <p:nvSpPr>
          <p:cNvPr id="8" name="pill"/>
          <p:cNvSpPr txBox="1"/>
          <p:nvPr/>
        </p:nvSpPr>
        <p:spPr>
          <a:xfrm>
            <a:off x="3352800" y="2413000"/>
            <a:ext cx="1524000" cy="444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 1Q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52800" y="3111500"/>
            <a:ext cx="264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마법사 출시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352800" y="3556000"/>
            <a:ext cx="2641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 기본값 12종</a:t>
            </a:r>
            <a:endParaRPr lang="en-US" sz="1300" dirty="0"/>
          </a:p>
        </p:txBody>
      </p:sp>
      <p:sp>
        <p:nvSpPr>
          <p:cNvPr id="11" name="pill"/>
          <p:cNvSpPr txBox="1"/>
          <p:nvPr/>
        </p:nvSpPr>
        <p:spPr>
          <a:xfrm>
            <a:off x="6197600" y="2413000"/>
            <a:ext cx="1524000" cy="444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 2Q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97600" y="3111500"/>
            <a:ext cx="264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197600" y="3556000"/>
            <a:ext cx="2641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20개 고객사</a:t>
            </a:r>
            <a:endParaRPr lang="en-US" sz="1300" dirty="0"/>
          </a:p>
        </p:txBody>
      </p:sp>
      <p:sp>
        <p:nvSpPr>
          <p:cNvPr id="14" name="pill"/>
          <p:cNvSpPr txBox="1"/>
          <p:nvPr/>
        </p:nvSpPr>
        <p:spPr>
          <a:xfrm>
            <a:off x="9042400" y="2413000"/>
            <a:ext cx="1524000" cy="444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2027. 4Q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042400" y="3111500"/>
            <a:ext cx="264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보고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042400" y="3556000"/>
            <a:ext cx="26416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재계약률 95% 점검</a:t>
            </a:r>
            <a:endParaRPr lang="en-US" sz="1300" dirty="0"/>
          </a:p>
        </p:txBody>
      </p:sp>
      <p:sp>
        <p:nvSpPr>
          <p:cNvPr id="17" name="bracket"/>
          <p:cNvSpPr txBox="1"/>
          <p:nvPr/>
        </p:nvSpPr>
        <p:spPr>
          <a:xfrm>
            <a:off x="508000" y="4826000"/>
            <a:ext cx="1117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 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20개 고객사</a:t>
            </a:r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시범 적용합니다</a:t>
            </a:r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]</a:t>
            </a:r>
            <a:endParaRPr lang="en-US" sz="2400" dirty="0"/>
          </a:p>
        </p:txBody>
      </p:sp>
      <p:sp>
        <p:nvSpPr>
          <p:cNvPr id="19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8000" y="355600"/>
            <a:ext cx="8890000" cy="203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04 비용과 효과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8000" y="571500"/>
            <a:ext cx="11176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chemeClr val="accent1"/>
                </a:solidFill>
              </a:rPr>
              <a:t>플랜별 매출 변화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08000" y="13970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엔터프라이즈가 매출 증가의 70%를 만들었습니다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79000" y="15240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단위: 곳, 억 원</a:t>
            </a:r>
            <a:endParaRPr lang="en-US" sz="1000" dirty="0"/>
          </a:p>
        </p:txBody>
      </p:sp>
      <p:graphicFrame>
        <p:nvGraphicFramePr>
          <p:cNvPr id="10" name="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000" y="1968500"/>
          <a:ext cx="11176000" cy="914400"/>
        </p:xfrm>
        <a:graphic>
          <a:graphicData uri="http://schemas.openxmlformats.org/drawingml/2006/table">
            <a:tbl>
              <a:tblPr/>
              <a:tblGrid>
                <a:gridCol w="3556000"/>
                <a:gridCol w="1905000"/>
                <a:gridCol w="1905000"/>
                <a:gridCol w="1905000"/>
                <a:gridCol w="19050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 매출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매출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4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엔터프라이즈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비즈니스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210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파트너 재판매 (NEW)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–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E161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52400" marR="1524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EC"/>
                    </a:solidFill>
                  </a:tcPr>
                </a:tc>
              </a:tr>
            </a:tbl>
          </a:graphicData>
        </a:graphic>
      </p:graphicFrame>
      <p:sp>
        <p:nvSpPr>
          <p:cNvPr id="7" name="Text 1"/>
          <p:cNvSpPr/>
          <p:nvPr>
            <p:ph idx="103" type="body" hasCustomPrompt="1"/>
          </p:nvPr>
        </p:nvSpPr>
        <p:spPr>
          <a:xfrm>
            <a:off x="508000" y="6413500"/>
            <a:ext cx="952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</a:rPr>
              <a:t>예시 수치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6000" y="6413500"/>
            <a:ext cx="508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8000" y="2095500"/>
            <a:ext cx="1117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6500" b="1" dirty="0">
                <a:solidFill>
                  <a:schemeClr val="bg1"/>
                </a:solidFill>
              </a:rPr>
              <a:t>감사합니다</a:t>
            </a:r>
            <a:endParaRPr lang="en-US" sz="65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16000" y="3683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온보딩 3주, </a:t>
            </a:r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재계약률 95%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함께 만들겠습니다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3556000" y="5461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cs-team@example.com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ef Deck">
  <a:themeElements>
    <a:clrScheme name="Brief Deck">
      <a:dk1>
        <a:srgbClr val="1F2937"/>
      </a:dk1>
      <a:lt1>
        <a:srgbClr val="FFFFFF"/>
      </a:lt1>
      <a:dk2>
        <a:srgbClr val="1D3466"/>
      </a:dk2>
      <a:lt2>
        <a:srgbClr val="EAF1FA"/>
      </a:lt2>
      <a:accent1>
        <a:srgbClr val="1D3466"/>
      </a:accent1>
      <a:accent2>
        <a:srgbClr val="2A70BE"/>
      </a:accent2>
      <a:accent3>
        <a:srgbClr val="8FC1F2"/>
      </a:accent3>
      <a:accent4>
        <a:srgbClr val="8A94A6"/>
      </a:accent4>
      <a:accent5>
        <a:srgbClr val="E1614F"/>
      </a:accent5>
      <a:accent6>
        <a:srgbClr val="FFD400"/>
      </a:accent6>
      <a:hlink>
        <a:srgbClr val="2A70BE"/>
      </a:hlink>
      <a:folHlink>
        <a:srgbClr val="6657B5"/>
      </a:folHlink>
    </a:clrScheme>
    <a:fontScheme name="Brief Dec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 Deck 템플릿</dc:title>
  <dc:subject>PptxGenJS Presentation</dc:subject>
  <dc:creator>PptxGenJS</dc:creator>
  <cp:lastModifiedBy>PptxGenJS</cp:lastModifiedBy>
  <cp:revision>1</cp:revision>
  <dcterms:created xsi:type="dcterms:W3CDTF">2026-10-27T06:54:20Z</dcterms:created>
  <dcterms:modified xsi:type="dcterms:W3CDTF">2026-10-27T06:54:20Z</dcterms:modified>
</cp:coreProperties>
</file>